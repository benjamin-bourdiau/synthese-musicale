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9e357119424776" /><Relationship Type="http://schemas.openxmlformats.org/officeDocument/2006/relationships/extended-properties" Target="/docProps/app.xml" Id="Rc8f47934a0ef4100" /><Relationship Type="http://schemas.openxmlformats.org/officeDocument/2006/relationships/officeDocument" Target="/ppt/presentation.xml" Id="Ra73aa00eca4545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4bad20c7b6405a"/>
  </p:sldMasterIdLst>
  <p:notesMasterIdLst>
    <p:notesMasterId xmlns:r="http://schemas.openxmlformats.org/officeDocument/2006/relationships" r:id="Rc9127cb2216f49a3"/>
  </p:notesMasterIdLst>
  <p:sldIdLst>
    <p:sldId xmlns:r="http://schemas.openxmlformats.org/officeDocument/2006/relationships" id="256" r:id="Ra4133d207eea4140"/>
    <p:sldId xmlns:r="http://schemas.openxmlformats.org/officeDocument/2006/relationships" id="257" r:id="R1bb9f2c8b07a4373"/>
    <p:sldId xmlns:r="http://schemas.openxmlformats.org/officeDocument/2006/relationships" id="258" r:id="R42c6b27ab274444c"/>
    <p:sldId xmlns:r="http://schemas.openxmlformats.org/officeDocument/2006/relationships" id="259" r:id="Rdd816f7dd1f64247"/>
    <p:sldId xmlns:r="http://schemas.openxmlformats.org/officeDocument/2006/relationships" id="260" r:id="R4aad5d1b04f24fe4"/>
    <p:sldId xmlns:r="http://schemas.openxmlformats.org/officeDocument/2006/relationships" id="261" r:id="R1b2e46bffe3241be"/>
    <p:sldId xmlns:r="http://schemas.openxmlformats.org/officeDocument/2006/relationships" id="262" r:id="R98cab1726a294677"/>
    <p:sldId xmlns:r="http://schemas.openxmlformats.org/officeDocument/2006/relationships" id="263" r:id="R85bd3e8980f1406b"/>
    <p:sldId xmlns:r="http://schemas.openxmlformats.org/officeDocument/2006/relationships" id="264" r:id="R466049e909a3423e"/>
    <p:sldId xmlns:r="http://schemas.openxmlformats.org/officeDocument/2006/relationships" id="265" r:id="R7d734612132448a4"/>
    <p:sldId xmlns:r="http://schemas.openxmlformats.org/officeDocument/2006/relationships" id="266" r:id="R2f55c921363e4af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d7b9b77f8745e8" /><Relationship Type="http://schemas.openxmlformats.org/officeDocument/2006/relationships/slideMaster" Target="/ppt/slideMasters/slideMaster1.xml" Id="Rb34bad20c7b6405a" /><Relationship Type="http://schemas.openxmlformats.org/officeDocument/2006/relationships/notesMaster" Target="/ppt/notesMasters/notesMaster1.xml" Id="Rc9127cb2216f49a3" /><Relationship Type="http://schemas.openxmlformats.org/officeDocument/2006/relationships/presProps" Target="/ppt/presProps.xml" Id="R1a2a873d8ce841a1" /><Relationship Type="http://schemas.openxmlformats.org/officeDocument/2006/relationships/viewProps" Target="/ppt/viewProps.xml" Id="R687ada92776e4987" /><Relationship Type="http://schemas.openxmlformats.org/officeDocument/2006/relationships/tableStyles" Target="/ppt/tableStyles.xml" Id="R2c7961da873549ad" /><Relationship Type="http://schemas.openxmlformats.org/officeDocument/2006/relationships/slide" Target="/ppt/slides/slide1.xml" Id="Ra4133d207eea4140" /><Relationship Type="http://schemas.openxmlformats.org/officeDocument/2006/relationships/slide" Target="/ppt/slides/slide2.xml" Id="R1bb9f2c8b07a4373" /><Relationship Type="http://schemas.openxmlformats.org/officeDocument/2006/relationships/slide" Target="/ppt/slides/slide3.xml" Id="R42c6b27ab274444c" /><Relationship Type="http://schemas.openxmlformats.org/officeDocument/2006/relationships/slide" Target="/ppt/slides/slide4.xml" Id="Rdd816f7dd1f64247" /><Relationship Type="http://schemas.openxmlformats.org/officeDocument/2006/relationships/slide" Target="/ppt/slides/slide5.xml" Id="R4aad5d1b04f24fe4" /><Relationship Type="http://schemas.openxmlformats.org/officeDocument/2006/relationships/slide" Target="/ppt/slides/slide6.xml" Id="R1b2e46bffe3241be" /><Relationship Type="http://schemas.openxmlformats.org/officeDocument/2006/relationships/slide" Target="/ppt/slides/slide7.xml" Id="R98cab1726a294677" /><Relationship Type="http://schemas.openxmlformats.org/officeDocument/2006/relationships/slide" Target="/ppt/slides/slide8.xml" Id="R85bd3e8980f1406b" /><Relationship Type="http://schemas.openxmlformats.org/officeDocument/2006/relationships/slide" Target="/ppt/slides/slide9.xml" Id="R466049e909a3423e" /><Relationship Type="http://schemas.openxmlformats.org/officeDocument/2006/relationships/slide" Target="/ppt/slides/slide10.xml" Id="R7d734612132448a4" /><Relationship Type="http://schemas.openxmlformats.org/officeDocument/2006/relationships/slide" Target="/ppt/slides/slide11.xml" Id="R2f55c921363e4a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61c512850946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ee275bf1634d93" /><Relationship Type="http://schemas.openxmlformats.org/officeDocument/2006/relationships/notesMaster" Target="/ppt/notesMasters/notesMaster1.xml" Id="R5e25d7daac5945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5eae951e534457" /><Relationship Type="http://schemas.openxmlformats.org/officeDocument/2006/relationships/notesMaster" Target="/ppt/notesMasters/notesMaster1.xml" Id="Rfe9a01d23f0243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32d211ece344aa" /><Relationship Type="http://schemas.openxmlformats.org/officeDocument/2006/relationships/notesMaster" Target="/ppt/notesMasters/notesMaster1.xml" Id="R88dd5e3eeedd47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12b5f195c740ce" /><Relationship Type="http://schemas.openxmlformats.org/officeDocument/2006/relationships/notesMaster" Target="/ppt/notesMasters/notesMaster1.xml" Id="Rb797dc8be75748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b00d4142a04928" /><Relationship Type="http://schemas.openxmlformats.org/officeDocument/2006/relationships/notesMaster" Target="/ppt/notesMasters/notesMaster1.xml" Id="R72fc4ef141824e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9993126e7041c5" /><Relationship Type="http://schemas.openxmlformats.org/officeDocument/2006/relationships/notesMaster" Target="/ppt/notesMasters/notesMaster1.xml" Id="R33b3da62444e47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a339b2ffc346c3" /><Relationship Type="http://schemas.openxmlformats.org/officeDocument/2006/relationships/notesMaster" Target="/ppt/notesMasters/notesMaster1.xml" Id="R7a3c7fb704934a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615670550d47f4" /><Relationship Type="http://schemas.openxmlformats.org/officeDocument/2006/relationships/notesMaster" Target="/ppt/notesMasters/notesMaster1.xml" Id="Ra0b0b209239f41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2827c5f0a249ea" /><Relationship Type="http://schemas.openxmlformats.org/officeDocument/2006/relationships/notesMaster" Target="/ppt/notesMasters/notesMaster1.xml" Id="Rf0423e2edc804b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361e267b424730" /><Relationship Type="http://schemas.openxmlformats.org/officeDocument/2006/relationships/notesMaster" Target="/ppt/notesMasters/notesMaster1.xml" Id="R032a38d4cbfa4f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d65e3748af4524" /><Relationship Type="http://schemas.openxmlformats.org/officeDocument/2006/relationships/notesMaster" Target="/ppt/notesMasters/notesMaster1.xml" Id="Rfe70ebd4e50c46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321ffaea148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94eec54bb4a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4b0b4d07e48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a8db3c4124a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340cf4e1840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153553e94460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36318ae10456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1dee6cb9e4f6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e460a225a4b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584e49a30462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b17b67a77469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65D4E1-D37E-4904-9EEE-AE2815E63A5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441E268-BE78-4293-8318-B7548533A9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FC5CD7-66AE-45B1-AEDF-CB7C2B4C97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067F7E-6F21-426D-9737-99A7E0C461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6BE1C-7EF9-4D15-A987-244D4BB63F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8007D9-FD5A-4DE0-8529-EA532B0629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5BBBF1-A4F3-4B58-AC49-495B60AD16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5B6BA9-580D-4583-9597-CFA6BA6148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8B0401-C1A5-4196-9BA5-4AC91F9FCE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645A20-DD0D-4DC9-87EE-8E2FE62EC4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6E0755-1E80-4339-B5DE-FFF33FF347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DA807E-21A2-4AE1-9F33-D96AD588E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1A7D11-3F38-44F2-8654-F27262DC5F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89A4F5-4E58-45BE-9915-2CFE3E8430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F8DA6B-B09A-4E4A-9284-A8F3617212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2495D9-AA5C-47BB-89E3-A2C168D72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9711D9F-FA3A-4CBE-8045-498827ED1F2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A78C9D8-5944-413C-9211-D16320C862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7B5A95-EF22-4C77-BDC8-C1ABFB0CD0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ADE3D53-2076-4C0D-876F-CE0048CD84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93D1243-82FB-4E84-9D9E-7410D36F84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B65148-8777-40BA-B690-9F10C95A0C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0A0677-030C-4F5E-8261-491EA55188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9FE43FF-8EB0-4333-8339-AC9F5D3931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B6B454B-84DC-4F53-96E6-F33564BE596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BEE8DFA-E161-42F3-8746-9B334CA47D9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D1FF74E-F2B6-4248-9F13-FE2652E693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EE50E8F-5C9E-4711-9D3C-5FFDAA373A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906EA23-6CF7-40EE-90AC-E10B943761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F1C5E8-989C-44A7-956D-23F03C087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308F8FD-C818-417F-9987-D0CFE417C9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16624E2-02EC-4325-858C-1C851B787B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91A9CF3-7186-4D7E-BAA7-658E955176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41BDFDB-0901-482C-9371-5A286E43E6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D3AEC6E-E4BE-408F-AD5F-F89BBAB2E6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C086564-148F-4F98-B557-62CEC6CFAF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A26D00-C87D-4426-8CD9-699590BA2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DAE9B7-E50A-4074-BBFD-4F104AC301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56EE945-B763-4514-AE57-3241CF4B6E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F224761-C401-49D8-946C-7DA168A1C8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D502010-746A-4263-A4F2-E876C10D65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0385FBD-350B-4273-B752-2CD879A103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23DC0A-5BA0-4CAA-AECB-601A9BA0E6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F649749-24F7-4F6B-9FFE-8D36887D0AF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F1F5996-A999-4147-8B13-213AB53708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B2A92EE-7231-426D-A54F-0486942872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BEB4518-CCFF-4153-A303-F1EBC1793A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2A480D-2D82-4411-9B5E-95704D144F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EEBDA3-93D7-4B05-A100-B474AB54E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0B0110E-762D-46F8-868C-67127763CD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57FF41-BB59-46F9-8F74-975F160BB3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C5B116-4D5F-4947-BF80-D4BB3BAEB5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9D0031-0D8F-4CCC-93A3-59879B2F25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B98B74B-A1E1-49A8-B9F4-BC6840E3C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CEC88E-56C7-44E2-8AC4-FF269E15AF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216498-2CAC-4A8C-B378-CD04B2E5F6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0BEB31-E5EF-46D3-BE4D-C8B96A84A6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4CF7B-DA49-4B1B-9DC2-8D0F758644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a7143329394d8f" /><Relationship Type="http://schemas.openxmlformats.org/officeDocument/2006/relationships/slideLayout" Target="/ppt/slideLayouts/slideLayout1.xml" Id="R113f00a427324cd1" /><Relationship Type="http://schemas.openxmlformats.org/officeDocument/2006/relationships/slideLayout" Target="/ppt/slideLayouts/slideLayout2.xml" Id="Ra84122f27de546db" /><Relationship Type="http://schemas.openxmlformats.org/officeDocument/2006/relationships/slideLayout" Target="/ppt/slideLayouts/slideLayout3.xml" Id="R3660b452078d4440" /><Relationship Type="http://schemas.openxmlformats.org/officeDocument/2006/relationships/slideLayout" Target="/ppt/slideLayouts/slideLayout4.xml" Id="R27f667fa97434820" /><Relationship Type="http://schemas.openxmlformats.org/officeDocument/2006/relationships/slideLayout" Target="/ppt/slideLayouts/slideLayout5.xml" Id="Rc130bbc9559a498b" /><Relationship Type="http://schemas.openxmlformats.org/officeDocument/2006/relationships/slideLayout" Target="/ppt/slideLayouts/slideLayout6.xml" Id="R52018c536d1f4ede" /><Relationship Type="http://schemas.openxmlformats.org/officeDocument/2006/relationships/slideLayout" Target="/ppt/slideLayouts/slideLayout7.xml" Id="R6216410151fa4ab2" /><Relationship Type="http://schemas.openxmlformats.org/officeDocument/2006/relationships/slideLayout" Target="/ppt/slideLayouts/slideLayout8.xml" Id="R709d6c87702d44ae" /><Relationship Type="http://schemas.openxmlformats.org/officeDocument/2006/relationships/slideLayout" Target="/ppt/slideLayouts/slideLayout9.xml" Id="R7e1e4028a94a4a6e" /><Relationship Type="http://schemas.openxmlformats.org/officeDocument/2006/relationships/slideLayout" Target="/ppt/slideLayouts/slideLayout10.xml" Id="R8d3abbb103ea44c0" /><Relationship Type="http://schemas.openxmlformats.org/officeDocument/2006/relationships/slideLayout" Target="/ppt/slideLayouts/slideLayout11.xml" Id="R773f926e49fc42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5569CE7-C391-4EC2-BE79-832DFF44C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325729-4828-469A-987E-D16DC18612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FD03E6-26D7-4DBD-841F-7C80FBDD1BB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EED2DE-9483-487D-B12C-9846077723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5CB9F8-95C8-478F-B454-831563D879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3f00a427324cd1"/>
    <p:sldLayoutId xmlns:r="http://schemas.openxmlformats.org/officeDocument/2006/relationships" id="2147483650" r:id="Ra84122f27de546db"/>
    <p:sldLayoutId xmlns:r="http://schemas.openxmlformats.org/officeDocument/2006/relationships" id="2147483651" r:id="R3660b452078d4440"/>
    <p:sldLayoutId xmlns:r="http://schemas.openxmlformats.org/officeDocument/2006/relationships" id="2147483652" r:id="R27f667fa97434820"/>
    <p:sldLayoutId xmlns:r="http://schemas.openxmlformats.org/officeDocument/2006/relationships" id="2147483653" r:id="Rc130bbc9559a498b"/>
    <p:sldLayoutId xmlns:r="http://schemas.openxmlformats.org/officeDocument/2006/relationships" id="2147483654" r:id="R52018c536d1f4ede"/>
    <p:sldLayoutId xmlns:r="http://schemas.openxmlformats.org/officeDocument/2006/relationships" id="2147483655" r:id="R6216410151fa4ab2"/>
    <p:sldLayoutId xmlns:r="http://schemas.openxmlformats.org/officeDocument/2006/relationships" id="2147483656" r:id="R709d6c87702d44ae"/>
    <p:sldLayoutId xmlns:r="http://schemas.openxmlformats.org/officeDocument/2006/relationships" id="2147483657" r:id="R7e1e4028a94a4a6e"/>
    <p:sldLayoutId xmlns:r="http://schemas.openxmlformats.org/officeDocument/2006/relationships" id="2147483658" r:id="R8d3abbb103ea44c0"/>
    <p:sldLayoutId xmlns:r="http://schemas.openxmlformats.org/officeDocument/2006/relationships" id="2147483659" r:id="R773f926e49fc422d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f68eead9924fab" /><Relationship Type="http://schemas.openxmlformats.org/officeDocument/2006/relationships/image" Target="/ppt/media/image.png" Id="R96ca0fd6d2324591" /><Relationship Type="http://schemas.openxmlformats.org/officeDocument/2006/relationships/image" Target="/ppt/media/image2.png" Id="R8a960592c4aa486d" /><Relationship Type="http://schemas.openxmlformats.org/officeDocument/2006/relationships/notesSlide" Target="/ppt/notesSlides/notesSlide1.xml" Id="R4900ab0e4b3c48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7d835407ce406e" /><Relationship Type="http://schemas.openxmlformats.org/officeDocument/2006/relationships/image" Target="/ppt/media/image.png" Id="Re756d62e909840d4" /><Relationship Type="http://schemas.openxmlformats.org/officeDocument/2006/relationships/image" Target="/ppt/media/image3.png" Id="Racda6e2f89014ef7" /><Relationship Type="http://schemas.openxmlformats.org/officeDocument/2006/relationships/image" Target="/ppt/media/image4.png" Id="Ra8c20df29d624aea" /><Relationship Type="http://schemas.openxmlformats.org/officeDocument/2006/relationships/notesSlide" Target="/ppt/notesSlides/notesSlide2.xml" Id="R949ee0c272f149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e16ea5327e4bfd" /><Relationship Type="http://schemas.openxmlformats.org/officeDocument/2006/relationships/image" Target="/ppt/media/image.png" Id="Rc04974ec94b64cd8" /><Relationship Type="http://schemas.openxmlformats.org/officeDocument/2006/relationships/image" Target="/ppt/media/image5.png" Id="Rf306eb4722224396" /><Relationship Type="http://schemas.openxmlformats.org/officeDocument/2006/relationships/image" Target="/ppt/media/image3.png" Id="Re5f336218d3040ea" /><Relationship Type="http://schemas.openxmlformats.org/officeDocument/2006/relationships/image" Target="/ppt/media/image4.png" Id="Rad116399ccb643d5" /><Relationship Type="http://schemas.openxmlformats.org/officeDocument/2006/relationships/notesSlide" Target="/ppt/notesSlides/notesSlide3.xml" Id="Re0718999f57e41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0c89aa8cbe4dd8" /><Relationship Type="http://schemas.openxmlformats.org/officeDocument/2006/relationships/image" Target="/ppt/media/image.png" Id="Rb0aed2ed512f4ecb" /><Relationship Type="http://schemas.openxmlformats.org/officeDocument/2006/relationships/image" Target="/ppt/media/image6.png" Id="R2c2bfe535dba4ea5" /><Relationship Type="http://schemas.openxmlformats.org/officeDocument/2006/relationships/image" Target="/ppt/media/image3.png" Id="R993c3d45bd744b53" /><Relationship Type="http://schemas.openxmlformats.org/officeDocument/2006/relationships/image" Target="/ppt/media/image4.png" Id="Rb99e8978ec6f4640" /><Relationship Type="http://schemas.openxmlformats.org/officeDocument/2006/relationships/notesSlide" Target="/ppt/notesSlides/notesSlide4.xml" Id="R3d54a047862d48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49d833251e41a9" /><Relationship Type="http://schemas.openxmlformats.org/officeDocument/2006/relationships/image" Target="/ppt/media/image.png" Id="Ree699f80e0394342" /><Relationship Type="http://schemas.openxmlformats.org/officeDocument/2006/relationships/image" Target="/ppt/media/image7.png" Id="R83ec479c1e8f4118" /><Relationship Type="http://schemas.openxmlformats.org/officeDocument/2006/relationships/image" Target="/ppt/media/image8.png" Id="R6c90669c041844f9" /><Relationship Type="http://schemas.openxmlformats.org/officeDocument/2006/relationships/image" Target="/ppt/media/image3.png" Id="R610e25780aff459d" /><Relationship Type="http://schemas.openxmlformats.org/officeDocument/2006/relationships/image" Target="/ppt/media/image4.png" Id="R1d662ad56bd449cb" /><Relationship Type="http://schemas.openxmlformats.org/officeDocument/2006/relationships/notesSlide" Target="/ppt/notesSlides/notesSlide5.xml" Id="R4903cf7830c74f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b5da9761804881" /><Relationship Type="http://schemas.openxmlformats.org/officeDocument/2006/relationships/image" Target="/ppt/media/image.png" Id="Rfbd981d951574833" /><Relationship Type="http://schemas.openxmlformats.org/officeDocument/2006/relationships/image" Target="/ppt/media/image8.png" Id="R3271f76ebfba471f" /><Relationship Type="http://schemas.openxmlformats.org/officeDocument/2006/relationships/image" Target="/ppt/media/image9.png" Id="Rab6ca4e88a19430f" /><Relationship Type="http://schemas.openxmlformats.org/officeDocument/2006/relationships/image" Target="/ppt/media/image3.png" Id="R447d23ba335e4509" /><Relationship Type="http://schemas.openxmlformats.org/officeDocument/2006/relationships/image" Target="/ppt/media/image4.png" Id="Refcde04d9bb64db3" /><Relationship Type="http://schemas.openxmlformats.org/officeDocument/2006/relationships/image" Target="/ppt/media/image10.png" Id="R91854c9d1fee4e9b" /><Relationship Type="http://schemas.openxmlformats.org/officeDocument/2006/relationships/notesSlide" Target="/ppt/notesSlides/notesSlide6.xml" Id="R162b8cf5cb9c4e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339d0fd11e4e26" /><Relationship Type="http://schemas.openxmlformats.org/officeDocument/2006/relationships/image" Target="/ppt/media/image.png" Id="Rc0f1a92e97f9427f" /><Relationship Type="http://schemas.openxmlformats.org/officeDocument/2006/relationships/image" Target="/ppt/media/image3.png" Id="R1238c891ffdf4ada" /><Relationship Type="http://schemas.openxmlformats.org/officeDocument/2006/relationships/image" Target="/ppt/media/image4.png" Id="Ra43e1fb20b9f4d91" /><Relationship Type="http://schemas.openxmlformats.org/officeDocument/2006/relationships/notesSlide" Target="/ppt/notesSlides/notesSlide7.xml" Id="Rfe7f721b5a6d49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bc0270736c4756" /><Relationship Type="http://schemas.openxmlformats.org/officeDocument/2006/relationships/image" Target="/ppt/media/image.png" Id="Rdc407608652344b1" /><Relationship Type="http://schemas.openxmlformats.org/officeDocument/2006/relationships/image" Target="/ppt/media/image8.png" Id="R090e4e66853e408a" /><Relationship Type="http://schemas.openxmlformats.org/officeDocument/2006/relationships/image" Target="/ppt/media/image3.png" Id="R8bc0983003d9416e" /><Relationship Type="http://schemas.openxmlformats.org/officeDocument/2006/relationships/image" Target="/ppt/media/image4.png" Id="Ra67e1dad6c9246ef" /><Relationship Type="http://schemas.openxmlformats.org/officeDocument/2006/relationships/notesSlide" Target="/ppt/notesSlides/notesSlide8.xml" Id="Rcc905b28b8374c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515e792fde487a" /><Relationship Type="http://schemas.openxmlformats.org/officeDocument/2006/relationships/image" Target="/ppt/media/image.png" Id="R190c1a9b25074a87" /><Relationship Type="http://schemas.openxmlformats.org/officeDocument/2006/relationships/image" Target="/ppt/media/image11.png" Id="Rfd9afa7008b4419a" /><Relationship Type="http://schemas.openxmlformats.org/officeDocument/2006/relationships/image" Target="/ppt/media/image3.png" Id="Rd80e388203e1485d" /><Relationship Type="http://schemas.openxmlformats.org/officeDocument/2006/relationships/image" Target="/ppt/media/image4.png" Id="R75f4880bf4e74832" /><Relationship Type="http://schemas.openxmlformats.org/officeDocument/2006/relationships/notesSlide" Target="/ppt/notesSlides/notesSlide9.xml" Id="R6988adecbeee47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9372319ecd417c" /><Relationship Type="http://schemas.openxmlformats.org/officeDocument/2006/relationships/image" Target="/ppt/media/image12.png" Id="R96a1bc4ea23349e4" /><Relationship Type="http://schemas.openxmlformats.org/officeDocument/2006/relationships/image" Target="/ppt/media/image.png" Id="R4ae3fcf28ff3475d" /><Relationship Type="http://schemas.openxmlformats.org/officeDocument/2006/relationships/image" Target="/ppt/media/image3.png" Id="Rb8419727d6044f1a" /><Relationship Type="http://schemas.openxmlformats.org/officeDocument/2006/relationships/image" Target="/ppt/media/image4.png" Id="R6b5a71e8523d4731" /><Relationship Type="http://schemas.openxmlformats.org/officeDocument/2006/relationships/notesSlide" Target="/ppt/notesSlides/notesSlide10.xml" Id="R4534a009efbb4a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5d1cc1c8244a54" /><Relationship Type="http://schemas.openxmlformats.org/officeDocument/2006/relationships/image" Target="/ppt/media/image.png" Id="R2423f449a1564843" /><Relationship Type="http://schemas.openxmlformats.org/officeDocument/2006/relationships/image" Target="/ppt/media/image13.png" Id="R22fc4ef19e784ac2" /><Relationship Type="http://schemas.openxmlformats.org/officeDocument/2006/relationships/image" Target="/ppt/media/image14.png" Id="R7b3c194000ce41d9" /><Relationship Type="http://schemas.openxmlformats.org/officeDocument/2006/relationships/notesSlide" Target="/ppt/notesSlides/notesSlide11.xml" Id="Rd9df8fb51a774d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0B343CE-2313-4E84-93BF-B7381A7C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7173" y="4377893"/>
            <a:ext cx="12267843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ts val="0"/>
              </a:spcBef>
              <a:buNone/>
            </a:pPr>
            <a:r>
              <a:rPr sz="3399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L</a:t>
            </a:r>
            <a:r>
              <a:rPr sz="3399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es droits d’un jeune diplômé en CDD ou CDI : pièges à éviter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57EC45C-5539-4092-A988-1B984082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3030" y="0"/>
            <a:ext cx="2584011" cy="2312961"/>
          </a:xfrm>
          <a:custGeom xmlns:a="http://schemas.openxmlformats.org/drawingml/2006/main">
            <a:rect l="l" t="t" r="r" b="b"/>
            <a:pathLst>
              <a:path w="2584011" h="231296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6ca0fd6d2324591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C2103AC-52B3-485C-9AAD-2B3F418D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6773" y="5262041"/>
            <a:ext cx="1010864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ts val="0"/>
              </a:spcBef>
              <a:buNone/>
            </a:pPr>
            <a:r>
              <a:rPr sz="3399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Présenté par Bourdiau Benjamin &amp; Pruvost Fabien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5ADB134-00FC-40EE-95DA-F79BB94D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264" y="9610157"/>
            <a:ext cx="5609630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ts val="0"/>
              </a:spcBef>
              <a:buNone/>
            </a:pPr>
            <a:r>
              <a:rPr sz="3399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Enseignante : Mme.Brissard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8898376-D11B-4156-85BF-67DF7315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9210675"/>
            <a:ext cx="152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60592c4aa486d"/>
          <a:stretch xmlns:a="http://schemas.openxmlformats.org/drawingml/2006/main"/>
        </p:blipFill>
        <p:spPr>
          <a:xfrm xmlns:a="http://schemas.openxmlformats.org/drawingml/2006/main">
            <a:off x="1028700" y="1856256"/>
            <a:ext cx="2952750" cy="276448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B7ED3-5802-4CE3-AF40-B962A3EB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715125"/>
            <a:ext cx="942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2F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7DE22-9418-4899-B449-8B412AC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848475"/>
            <a:ext cx="908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Objectif : savoir quoi vérifier avant de signer, pendant le contrat et à la fin.</a:t>
            </a:r>
          </a:p>
        </p:txBody>
      </p:sp>
    </p:spTree>
    <p:extLst>
      <p:ext uri="{BB962C8B-B14F-4D97-AF65-F5344CB8AC3E}">
        <p14:creationId xmlns:p14="http://schemas.microsoft.com/office/powerpoint/2010/main" val="17257815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1FC89F2-6F5D-444A-A22C-5CBB96F5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3030" y="0"/>
            <a:ext cx="2584011" cy="2312961"/>
          </a:xfrm>
          <a:custGeom xmlns:a="http://schemas.openxmlformats.org/drawingml/2006/main">
            <a:rect l="l" t="t" r="r" b="b"/>
            <a:pathLst>
              <a:path w="2584011" h="231296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56d62e909840d4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0C2D603-981B-44FD-A433-AF1549D4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142187"/>
            <a:ext cx="18288000" cy="1144813"/>
          </a:xfrm>
          <a:custGeom xmlns:a="http://schemas.openxmlformats.org/drawingml/2006/main">
            <a:rect l="l" t="t" r="r" b="b"/>
            <a:pathLst>
              <a:path w="18288000" h="1144813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cda6e2f89014ef7"/>
            <a:stretch>
              <a:fillRect l="0" t="-293028" r="0" b="-6338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CD82227-3B7D-4B6A-8561-45D8D850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469" y="3234148"/>
            <a:ext cx="11263042" cy="46602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160"/>
              </a:lnSpc>
              <a:buNone/>
            </a:pPr>
            <a:r>
              <a:rPr sz="4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1- Présentation des contrats &amp; des droits du travail</a:t>
            </a:r>
          </a:p>
          <a:p xmlns:a="http://schemas.openxmlformats.org/drawingml/2006/main">
            <a:pPr algn="l">
              <a:lnSpc>
                <a:spcPts val="6160"/>
              </a:lnSpc>
              <a:buNone/>
            </a:pPr>
          </a:p>
          <a:p xmlns:a="http://schemas.openxmlformats.org/drawingml/2006/main">
            <a:pPr algn="l">
              <a:lnSpc>
                <a:spcPts val="6160"/>
              </a:lnSpc>
              <a:buNone/>
            </a:pPr>
            <a:r>
              <a:rPr sz="4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2 - Comparatifs en fonction de l’ancienneté</a:t>
            </a:r>
          </a:p>
          <a:p xmlns:a="http://schemas.openxmlformats.org/drawingml/2006/main">
            <a:pPr algn="l">
              <a:lnSpc>
                <a:spcPts val="6160"/>
              </a:lnSpc>
              <a:buNone/>
            </a:pPr>
          </a:p>
          <a:p xmlns:a="http://schemas.openxmlformats.org/drawingml/2006/main">
            <a:pPr algn="l">
              <a:lnSpc>
                <a:spcPts val="6160"/>
              </a:lnSpc>
              <a:spcBef>
                <a:spcPts val="0"/>
              </a:spcBef>
              <a:buNone/>
            </a:pPr>
            <a:r>
              <a:rPr sz="4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3 - Comportement à adopter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B50B4B6-B1D8-41C8-9E96-EDAD4698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321828"/>
            <a:ext cx="2971324" cy="755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160"/>
              </a:lnSpc>
              <a:spcBef>
                <a:spcPts val="0"/>
              </a:spcBef>
              <a:buNone/>
            </a:pPr>
            <a:r>
              <a:rPr sz="4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</a:t>
            </a:r>
            <a:r>
              <a:rPr sz="44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ommaire :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9EB6A785-E34B-4BB5-9E3B-2DA81FB4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326" flipH="1">
            <a:off x="196465" y="7946303"/>
            <a:ext cx="1086008" cy="1180444"/>
          </a:xfrm>
          <a:custGeom xmlns:a="http://schemas.openxmlformats.org/drawingml/2006/main">
            <a:rect l="l" t="t" r="r" b="b"/>
            <a:pathLst>
              <a:path w="1086008" h="1180444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8c20df29d624aea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0FBF108-0764-45A1-99E4-C97AEEFE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9210675"/>
            <a:ext cx="152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25498-4019-4045-ADDA-2656D5BE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"/>
            <a:ext cx="581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19050">
            <a:solidFill>
              <a:srgbClr val="8E2F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1DAFB-CEE0-49DE-982F-291CBFA2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76600"/>
            <a:ext cx="54673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Fil rouge : repérer les clauses utiles, les droits communs CDD/CDI et les pièges fréquents d’un premier emploi.</a:t>
            </a:r>
          </a:p>
        </p:txBody>
      </p:sp>
    </p:spTree>
    <p:extLst>
      <p:ext uri="{BB962C8B-B14F-4D97-AF65-F5344CB8AC3E}">
        <p14:creationId xmlns:p14="http://schemas.microsoft.com/office/powerpoint/2010/main" val="15641344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4E88FE0-D9B2-4ACB-9800-4A357666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3030" y="0"/>
            <a:ext cx="2584011" cy="2312961"/>
          </a:xfrm>
          <a:custGeom xmlns:a="http://schemas.openxmlformats.org/drawingml/2006/main">
            <a:rect l="l" t="t" r="r" b="b"/>
            <a:pathLst>
              <a:path w="2584011" h="231296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4974ec94b64cd8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7CA29EDC-0AAD-4B68-B2B1-74F5F47B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3107" y="618001"/>
            <a:ext cx="10036730" cy="962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840"/>
              </a:lnSpc>
              <a:spcBef>
                <a:spcPts val="0"/>
              </a:spcBef>
              <a:buNone/>
            </a:pPr>
            <a:r>
              <a:rPr sz="5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Présentation générale du CDD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32FF839-6775-47E0-BF6C-0700557D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089400"/>
            <a:ext cx="10036730" cy="105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durée : défini ( 18 mois maximum , renouvelable 2 fois )</a:t>
            </a:r>
          </a:p>
          <a:p xmlns:a="http://schemas.openxmlformats.org/drawingml/2006/main">
            <a:pPr algn="ctr">
              <a:lnSpc>
                <a:spcPts val="2800"/>
              </a:lnSpc>
              <a:buNone/>
            </a:pPr>
          </a:p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3E554C6-FA8E-4292-BFC6-5A39C8E6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1018" y="2682696"/>
            <a:ext cx="7356243" cy="5899198"/>
          </a:xfrm>
          <a:custGeom xmlns:a="http://schemas.openxmlformats.org/drawingml/2006/main">
            <a:rect l="l" t="t" r="r" b="b"/>
            <a:pathLst>
              <a:path w="7356243" h="5899198">
                <a:moveTo>
                  <a:pt x="0" y="0"/>
                </a:moveTo>
                <a:lnTo>
                  <a:pt x="7356243" y="0"/>
                </a:lnTo>
                <a:lnTo>
                  <a:pt x="7356243" y="5899197"/>
                </a:lnTo>
                <a:lnTo>
                  <a:pt x="0" y="589919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06eb4722224396"/>
            <a:stretch>
              <a:fillRect l="-30407" t="0" r="-25012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3B57F59-F91E-4770-9378-D853FA55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142187"/>
            <a:ext cx="18288000" cy="1144813"/>
          </a:xfrm>
          <a:custGeom xmlns:a="http://schemas.openxmlformats.org/drawingml/2006/main">
            <a:rect l="l" t="t" r="r" b="b"/>
            <a:pathLst>
              <a:path w="18288000" h="1144813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f336218d3040ea"/>
            <a:stretch>
              <a:fillRect l="0" t="-293028" r="0" b="-6338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D8A0FAE-BF40-4A7A-BFB3-E98E9C5C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326" flipH="1">
            <a:off x="1868309" y="7946303"/>
            <a:ext cx="1086008" cy="1180444"/>
          </a:xfrm>
          <a:custGeom xmlns:a="http://schemas.openxmlformats.org/drawingml/2006/main">
            <a:rect l="l" t="t" r="r" b="b"/>
            <a:pathLst>
              <a:path w="1086008" h="1180444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116399ccb643d5"/>
            <a:stretch>
              <a:fillRect l="0" t="0" r="0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29612F8-200C-46D6-A32F-EE08763A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9210675"/>
            <a:ext cx="152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DD4B0-E43E-4E88-9C23-25932108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156FB-6435-4D29-B1FE-E67F7156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333625"/>
            <a:ext cx="960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Le CDD est l’exception : il sert à une tâche précise et temporaire, pas à occuper durablement un poste permanent.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89A7A-20CD-4824-882C-437B7647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28975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1FFE1-94BA-41FA-96C4-BCAC40F0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960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Il doit être écrit, en français, signé et transmis dans les 2 jours ouvrables suivant l’embauche.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376CD-A5EE-4545-818B-A67DCC0C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05275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6CC7F-67ED-40C3-B6A8-86A61C2C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86225"/>
            <a:ext cx="960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Le motif, le terme, la durée, le poste, la rémunération et la convention collective doivent être vérifiables.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6AD86-98E1-4496-B4CF-E8C1362A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6CE76-738D-472E-B875-C3692E14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962525"/>
            <a:ext cx="960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Si le cadre légal n’est pas respecté, le salarié peut demander la requalification du CDD en CDI.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B058F-5773-4D7E-B34F-3FDED2B1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2F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FA288-E316-4AC4-B056-24BA078E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133850"/>
            <a:ext cx="46101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210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À retenir : un CDD “oral” ou au motif flou est un signal d’alerte.</a:t>
            </a:r>
          </a:p>
        </p:txBody>
      </p:sp>
    </p:spTree>
    <p:extLst>
      <p:ext uri="{BB962C8B-B14F-4D97-AF65-F5344CB8AC3E}">
        <p14:creationId xmlns:p14="http://schemas.microsoft.com/office/powerpoint/2010/main" val="19342849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A13F4DC-5071-462C-A9E0-50535716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3030" y="0"/>
            <a:ext cx="2584011" cy="2312961"/>
          </a:xfrm>
          <a:custGeom xmlns:a="http://schemas.openxmlformats.org/drawingml/2006/main">
            <a:rect l="l" t="t" r="r" b="b"/>
            <a:pathLst>
              <a:path w="2584011" h="231296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0aed2ed512f4ecb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7A94305-3044-43A8-9B7C-DEEA9AE9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1425" y="3127106"/>
            <a:ext cx="7391463" cy="4900862"/>
          </a:xfrm>
          <a:custGeom xmlns:a="http://schemas.openxmlformats.org/drawingml/2006/main">
            <a:rect l="l" t="t" r="r" b="b"/>
            <a:pathLst>
              <a:path w="7391463" h="4900862">
                <a:moveTo>
                  <a:pt x="0" y="0"/>
                </a:moveTo>
                <a:lnTo>
                  <a:pt x="7391463" y="0"/>
                </a:lnTo>
                <a:lnTo>
                  <a:pt x="7391463" y="4900861"/>
                </a:lnTo>
                <a:lnTo>
                  <a:pt x="0" y="49008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c2bfe535dba4ea5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F8216B7-BBEC-4914-97CF-BF3076D0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0212" y="490220"/>
            <a:ext cx="13233917" cy="962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840"/>
              </a:lnSpc>
              <a:spcBef>
                <a:spcPts val="0"/>
              </a:spcBef>
              <a:buNone/>
            </a:pPr>
            <a:r>
              <a:rPr sz="5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Quels sont les droits du travail en CDD ?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5F15C82-BED4-4E5B-849D-1F75207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142187"/>
            <a:ext cx="18288000" cy="1144813"/>
          </a:xfrm>
          <a:custGeom xmlns:a="http://schemas.openxmlformats.org/drawingml/2006/main">
            <a:rect l="l" t="t" r="r" b="b"/>
            <a:pathLst>
              <a:path w="18288000" h="1144813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93c3d45bd744b53"/>
            <a:stretch>
              <a:fillRect l="0" t="-293028" r="0" b="-6338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8814FCDD-EDCC-43D4-9540-BFDC759B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326" flipH="1">
            <a:off x="3315096" y="7946303"/>
            <a:ext cx="1086008" cy="1180444"/>
          </a:xfrm>
          <a:custGeom xmlns:a="http://schemas.openxmlformats.org/drawingml/2006/main">
            <a:rect l="l" t="t" r="r" b="b"/>
            <a:pathLst>
              <a:path w="1086008" h="1180444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99e8978ec6f4640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757D27D-579C-46E0-AE7A-BFF9E79D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9210675"/>
            <a:ext cx="152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061DA-C339-4AD3-A717-AFF6BD24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3D333-EE66-461E-AE05-57478F13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95500"/>
            <a:ext cx="893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Pendant le contrat, le salarié en CDD est intégré dans l’entreprise et bénéficie en principe des mêmes droits que les CDI.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C90B1-0011-4137-B5FB-923116C8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07D87-AEA1-4908-9B34-E3A64726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893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Temps de travail, repos, congés payés, bulletin de paie, protection santé-sécurité : les règles de base restent applicables.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89D2B-4089-4339-99D8-4FB416F0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539E8-E71F-4688-8ED3-F14A1C95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893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À la fin du CDD, la prime de précarité est en principe de 10 % de la rémunération brute totale, sauf exceptions.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88279-20A6-465C-A9A8-051A1844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792E5-B5BC-43F7-AD22-8B1845F2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893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L’employeur doit remettre certificat de travail, solde de tout compte et attestation France Travail.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95641-FCC5-4462-9DB0-2F04D076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762750"/>
            <a:ext cx="619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19050">
            <a:solidFill>
              <a:srgbClr val="8E2F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AB2AE-0A3C-452F-8342-174E27A5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896100"/>
            <a:ext cx="5848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Piège : pas de prime de précarité si le CDD se poursuit en CDI ou si un CDI équivalent est refusé.</a:t>
            </a:r>
          </a:p>
        </p:txBody>
      </p:sp>
    </p:spTree>
    <p:extLst>
      <p:ext uri="{BB962C8B-B14F-4D97-AF65-F5344CB8AC3E}">
        <p14:creationId xmlns:p14="http://schemas.microsoft.com/office/powerpoint/2010/main" val="2952782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EDB8632-E879-4BD0-A6FF-FFFF96C9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3030" y="0"/>
            <a:ext cx="2584011" cy="2312961"/>
          </a:xfrm>
          <a:custGeom xmlns:a="http://schemas.openxmlformats.org/drawingml/2006/main">
            <a:rect l="l" t="t" r="r" b="b"/>
            <a:pathLst>
              <a:path w="2584011" h="231296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699f80e0394342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ED7E641E-295C-406F-8647-285DA1FA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3162" y="2918273"/>
            <a:ext cx="5029317" cy="5029317"/>
          </a:xfrm>
          <a:custGeom xmlns:a="http://schemas.openxmlformats.org/drawingml/2006/main">
            <a:rect l="l" t="t" r="r" b="b"/>
            <a:pathLst>
              <a:path w="6705756" h="6705756">
                <a:moveTo>
                  <a:pt x="0" y="0"/>
                </a:moveTo>
                <a:lnTo>
                  <a:pt x="6705756" y="0"/>
                </a:lnTo>
                <a:lnTo>
                  <a:pt x="6705756" y="6705756"/>
                </a:lnTo>
                <a:lnTo>
                  <a:pt x="0" y="670575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ec479c1e8f4118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1FE58DB-B6BF-4795-A7E0-F7190210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4573">
            <a:off x="15840519" y="5016410"/>
            <a:ext cx="1546488" cy="1091897"/>
          </a:xfrm>
          <a:custGeom xmlns:a="http://schemas.openxmlformats.org/drawingml/2006/main">
            <a:rect l="l" t="t" r="r" b="b"/>
            <a:pathLst>
              <a:path w="2061985" h="1455863">
                <a:moveTo>
                  <a:pt x="0" y="0"/>
                </a:moveTo>
                <a:lnTo>
                  <a:pt x="2061985" y="0"/>
                </a:lnTo>
                <a:lnTo>
                  <a:pt x="2061985" y="1455863"/>
                </a:lnTo>
                <a:lnTo>
                  <a:pt x="0" y="145586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c90669c041844f9"/>
            <a:stretch>
              <a:fillRect l="-35587" t="-7574" r="0" b="-20218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396D731-99EC-43D9-A5A0-25F4D20E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74182" y="2918273"/>
            <a:ext cx="419918" cy="5029317"/>
          </a:xfrm>
          <a:custGeom xmlns:a="http://schemas.openxmlformats.org/drawingml/2006/main">
            <a:rect l="l" t="t" r="r" b="b"/>
            <a:pathLst>
              <a:path w="110596" h="1324594">
                <a:moveTo>
                  <a:pt x="0" y="0"/>
                </a:moveTo>
                <a:lnTo>
                  <a:pt x="110596" y="0"/>
                </a:lnTo>
                <a:lnTo>
                  <a:pt x="110596" y="1324594"/>
                </a:lnTo>
                <a:lnTo>
                  <a:pt x="0" y="13245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21A45FF-B991-4EE3-A587-8DA7A94C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74182" y="2737447"/>
            <a:ext cx="419918" cy="52101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293953F-2B25-4F89-A711-3F755D9F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3186" y="618001"/>
            <a:ext cx="9716571" cy="962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840"/>
              </a:lnSpc>
              <a:spcBef>
                <a:spcPts val="0"/>
              </a:spcBef>
              <a:buNone/>
            </a:pPr>
            <a:r>
              <a:rPr sz="5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Présentation générale du CDI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FE45E1E-37AE-4D52-864C-650245E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142187"/>
            <a:ext cx="18288000" cy="1144813"/>
          </a:xfrm>
          <a:custGeom xmlns:a="http://schemas.openxmlformats.org/drawingml/2006/main">
            <a:rect l="l" t="t" r="r" b="b"/>
            <a:pathLst>
              <a:path w="18288000" h="1144813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0e25780aff459d"/>
            <a:stretch>
              <a:fillRect l="0" t="-293028" r="0" b="-6338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C1D1F811-E83B-4E68-9974-E6224A1F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326" flipH="1">
            <a:off x="5067317" y="7946303"/>
            <a:ext cx="1086008" cy="1180444"/>
          </a:xfrm>
          <a:custGeom xmlns:a="http://schemas.openxmlformats.org/drawingml/2006/main">
            <a:rect l="l" t="t" r="r" b="b"/>
            <a:pathLst>
              <a:path w="1086008" h="1180444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d662ad56bd449cb"/>
            <a:stretch>
              <a:fillRect l="0" t="0" r="0" b="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247914-ABE0-4C75-8569-F24E7E6D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9210675"/>
            <a:ext cx="152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688D2-DED4-4D48-B03B-6403381E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098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B02C9-9521-4631-A0B8-EC735F25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190750"/>
            <a:ext cx="8172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Le CDI est la forme normale du contrat de travail : il n’a pas de date de fin prévue.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124299-84A9-47BE-8E62-01BB1FBC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861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7E759-EE00-4B98-8E39-D92012C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67050"/>
            <a:ext cx="8172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Un CDI à temps plein n’est pas toujours obligatoirement écrit, mais un écrit reste fortement conseillé ; le temps partiel doit être écrit.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3741C-813B-4671-9FD9-31B45498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624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F2CBE-7225-44EE-A76C-20CBCA38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43350"/>
            <a:ext cx="8172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La période d’essai doit être prévue dès le départ : 2 mois ouvriers/employés, 3 mois techniciens/agents de maîtrise, 4 mois cadres.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F4990-08A4-4A44-98D2-77D2BE80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387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45B79-BE51-426D-BA8F-C2210B5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19650"/>
            <a:ext cx="8172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Un CDI peut se rompre par démission, licenciement, rupture conventionnelle ou pendant la période d’essai.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ADEBE-3B76-44FF-BB69-6690C5FD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1625"/>
            <a:ext cx="561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2F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A2786-2904-4469-9834-C0444EE3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14975"/>
            <a:ext cx="5276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Pour un jeune diplômé, vérifier surtout : statut cadre/non-cadre, forfait jours, rémunération et convention collective.</a:t>
            </a:r>
          </a:p>
        </p:txBody>
      </p:sp>
    </p:spTree>
    <p:extLst>
      <p:ext uri="{BB962C8B-B14F-4D97-AF65-F5344CB8AC3E}">
        <p14:creationId xmlns:p14="http://schemas.microsoft.com/office/powerpoint/2010/main" val="15838431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ED979BD-36CC-4B2C-9D52-2B193884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3030" y="0"/>
            <a:ext cx="2584011" cy="2312961"/>
          </a:xfrm>
          <a:custGeom xmlns:a="http://schemas.openxmlformats.org/drawingml/2006/main">
            <a:rect l="l" t="t" r="r" b="b"/>
            <a:pathLst>
              <a:path w="2584011" h="231296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d981d951574833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CFB9A8E-E831-41D3-940E-49890478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88203" y="482751"/>
            <a:ext cx="1546489" cy="1091897"/>
          </a:xfrm>
          <a:custGeom xmlns:a="http://schemas.openxmlformats.org/drawingml/2006/main">
            <a:rect l="l" t="t" r="r" b="b"/>
            <a:pathLst>
              <a:path w="1546489" h="1091897">
                <a:moveTo>
                  <a:pt x="0" y="0"/>
                </a:moveTo>
                <a:lnTo>
                  <a:pt x="1546488" y="0"/>
                </a:lnTo>
                <a:lnTo>
                  <a:pt x="1546488" y="1091898"/>
                </a:lnTo>
                <a:lnTo>
                  <a:pt x="0" y="109189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71f76ebfba471f">
              <a:alphaModFix amt="40000"/>
            </a:blip>
            <a:stretch>
              <a:fillRect l="-35587" t="-7574" r="0" b="-20218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DE93CC0-9AD9-4D6E-A5C1-B3693739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1172" y="2643309"/>
            <a:ext cx="6940549" cy="6498878"/>
          </a:xfrm>
          <a:custGeom xmlns:a="http://schemas.openxmlformats.org/drawingml/2006/main">
            <a:rect l="l" t="t" r="r" b="b"/>
            <a:pathLst>
              <a:path w="6940549" h="6498878">
                <a:moveTo>
                  <a:pt x="0" y="0"/>
                </a:moveTo>
                <a:lnTo>
                  <a:pt x="6940550" y="0"/>
                </a:lnTo>
                <a:lnTo>
                  <a:pt x="6940550" y="6498878"/>
                </a:lnTo>
                <a:lnTo>
                  <a:pt x="0" y="64988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6ca4e88a19430f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B26787C-1B0D-4E3C-B8E2-C9E803F9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9210675"/>
            <a:ext cx="152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79D594C-6CB3-4F58-B9F5-B733D586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0292" y="490220"/>
            <a:ext cx="12913757" cy="962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840"/>
              </a:lnSpc>
              <a:spcBef>
                <a:spcPts val="0"/>
              </a:spcBef>
              <a:buNone/>
            </a:pPr>
            <a:r>
              <a:rPr sz="5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Quels sont les droits du travail en CDI ?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3BC88B0-1A94-4646-8F11-7E102F73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142187"/>
            <a:ext cx="18288000" cy="1144813"/>
          </a:xfrm>
          <a:custGeom xmlns:a="http://schemas.openxmlformats.org/drawingml/2006/main">
            <a:rect l="l" t="t" r="r" b="b"/>
            <a:pathLst>
              <a:path w="18288000" h="1144813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7d23ba335e4509"/>
            <a:stretch>
              <a:fillRect l="0" t="-293028" r="0" b="-6338"/>
            </a:stretch>
          </a:blip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7EF7D787-33FD-46DF-844A-F805341B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326" flipH="1">
            <a:off x="7221423" y="7946303"/>
            <a:ext cx="1086008" cy="1180444"/>
          </a:xfrm>
          <a:custGeom xmlns:a="http://schemas.openxmlformats.org/drawingml/2006/main">
            <a:rect l="l" t="t" r="r" b="b"/>
            <a:pathLst>
              <a:path w="1086008" h="1180444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fcde04d9bb64db3"/>
            <a:stretch>
              <a:fillRect l="0" t="0" r="0" b="0"/>
            </a:stretch>
          </a:blipFill>
        </p:spPr>
      </p:sp>
      <p:pic>
        <p:nvPicPr>
          <p:cNvPr id="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54c9d1fee4e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15309140" y="3178568"/>
            <a:ext cx="835152" cy="137890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D257C-AA8E-42EC-9A0F-39B72456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F8D67-0C7F-47BD-BB8D-7E401D02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893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Le salaire doit au minimum respecter le Smic et, si elle est plus favorable, la grille de la convention collective.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53BDD-770D-4DE6-B284-56CB1576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64099-316B-47E1-A84A-FF769B77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893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Les congés payés s’acquièrent à raison de 2,5 jours ouvrables par mois de travail effectif.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4F566-40F2-493C-A943-17166D54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D6B90-28E4-4563-853F-645A16A2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893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La durée légale est de 35 h/semaine ; les heures au-delà sont des heures supplémentaires sauf régime particulier.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60D60-FED2-459A-9F9B-EEB4B2FA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4DED6-9794-4C89-874C-F0782755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57750"/>
            <a:ext cx="8934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72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En CDI, l’ancienneté compte notamment pour préavis, indemnités, avantages conventionnels et protection en cas de rupture.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25641-6A61-4600-A373-B1DAD2CA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561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19050">
            <a:solidFill>
              <a:srgbClr val="8E2F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AA236-69A9-49D1-B528-B2A45B42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657975"/>
            <a:ext cx="5276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9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Point de vigilance : le forfait jours exige un accord écrit et des garanties de repos.</a:t>
            </a:r>
          </a:p>
        </p:txBody>
      </p:sp>
    </p:spTree>
    <p:extLst>
      <p:ext uri="{BB962C8B-B14F-4D97-AF65-F5344CB8AC3E}">
        <p14:creationId xmlns:p14="http://schemas.microsoft.com/office/powerpoint/2010/main" val="2592728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F8EA3CA-1679-46AC-8587-9E17E455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3030" y="0"/>
            <a:ext cx="2584011" cy="2312961"/>
          </a:xfrm>
          <a:custGeom xmlns:a="http://schemas.openxmlformats.org/drawingml/2006/main">
            <a:rect l="l" t="t" r="r" b="b"/>
            <a:pathLst>
              <a:path w="2584011" h="231296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0f1a92e97f9427f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8ED34AF-8980-4055-8C4A-23914C3B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5120" y="813549"/>
            <a:ext cx="13368933" cy="811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719"/>
              </a:lnSpc>
              <a:spcBef>
                <a:spcPts val="0"/>
              </a:spcBef>
              <a:buNone/>
            </a:pPr>
            <a:r>
              <a:rPr sz="4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Différences en CDD en fonction de l’ancienneté</a:t>
            </a:r>
          </a:p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EA38BDA-C323-437E-B228-89652CD3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132662"/>
            <a:ext cx="18288000" cy="1144813"/>
          </a:xfrm>
          <a:custGeom xmlns:a="http://schemas.openxmlformats.org/drawingml/2006/main">
            <a:rect l="l" t="t" r="r" b="b"/>
            <a:pathLst>
              <a:path w="18288000" h="1144813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38c891ffdf4ada"/>
            <a:stretch>
              <a:fillRect l="0" t="-293028" r="0" b="-6338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E3CE614-5704-4E3F-A49E-C43CFE1B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326" flipH="1">
            <a:off x="10468658" y="7946303"/>
            <a:ext cx="1086008" cy="1180444"/>
          </a:xfrm>
          <a:custGeom xmlns:a="http://schemas.openxmlformats.org/drawingml/2006/main">
            <a:rect l="l" t="t" r="r" b="b"/>
            <a:pathLst>
              <a:path w="1086008" h="1180444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43e1fb20b9f4d91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2B65559-388C-4FD1-A639-984F8739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8909050"/>
            <a:ext cx="152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EDEF5-55B3-4B4B-8494-C6B3C074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25915-BA5F-46AE-B9C6-3C9BC825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Moment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3704A-2F1D-40B8-AD47-012F9A0B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96912-8A0C-4BB4-A402-727F8211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499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Droits / effets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72687-1397-48DF-9360-9418ABFF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89860-69C0-4E6C-BFFD-17B2A020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À vérifier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3BF8F-A81C-4ECB-880A-7AE2125E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1907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CC6A7-152E-440D-834D-C6CC4AC6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266950"/>
            <a:ext cx="470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Piège à éviter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26D40-73EB-45A0-B5D3-E5740D03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6F2D1-383C-490D-87E4-9A1FD02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Avant / J1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DB312-1A99-41AF-A329-CB75B984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432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4F564-657C-4F1B-B920-B60E97B9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Contrat écrit, motif précis, durée ou terme.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D5932-0D6B-4918-A5EB-3694C1CA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4191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45F1C9-66EF-4C84-BA6E-84381DB0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Signature, poste, salaire, convention.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850E1D-8715-4F51-90AD-947D288E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743200"/>
            <a:ext cx="485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6A4B6-A67B-4E62-9C52-6E6FEDDA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81940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Commencer sans contrat CDD signé.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5ED42-AAF5-4308-890B-E5E6E365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402D6-0819-4D4C-9836-780643BC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Essai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3EF5C-FDAF-4BB5-B17D-10C13A54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481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A5C150-CB5B-4A9F-8358-F1372EC2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243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Max. 1 jour/semaine ; 2 semaines si CDD ≤ 6 mois, 1 mois au-delà.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F97C6-9806-4AE7-9C2E-BE233AD4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4191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2E077E-015A-4C76-ACB5-2778719E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Clause d’essai prévue au contrat.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E6A1D7-79E6-4AE6-B8ED-588A1F48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848100"/>
            <a:ext cx="485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757A87-E729-4303-949A-41B67F2D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92430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Croire qu’elle peut être renouvelée.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07A17E-4AAE-44DA-A00D-B868B390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2D1732-F129-4AB2-B73D-B0290D0E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Pendant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E76FC9-ED17-49A7-8D0D-F8115D44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530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A59C71-E121-497C-BE76-7B6F5DDF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Droits proches du CDI : congés, paie, sécurité, temps de travail.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74E7BC-A7D8-42C7-8A1F-58CD8524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4191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A3F4A9-2451-4849-B904-355859AD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Bulletins, heures, repos, mutuelle.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8EE0BA-C75A-4C45-9854-34FBEEB4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953000"/>
            <a:ext cx="485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756841-9525-4F6A-92E2-1081B877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2920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Accepter des heures non tracées.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F95E18-3973-4A1E-8FFC-DFD11456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79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17A353-5942-4974-8963-11A510D9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341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Fin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97C631-8D57-4224-A3B1-25F736B7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579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5EF746-A08D-422F-8FD0-87C43F4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1341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Prime précarité 10 % + congés payés si dus.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2FBC1-0D1B-4669-BA3F-03E9FA78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57900"/>
            <a:ext cx="4191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A56B3A-5051-473D-A30D-B9BE1782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1341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Exceptions : CDI, saisonnier, faute, refus CDI équivalent.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F9CC68-1CEC-4EEC-92FA-2A4813F6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057900"/>
            <a:ext cx="485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70BD7E-7BB6-44E8-B807-F5AE8A5E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13410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Oublier les documents de fin.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B894BB-3D4B-4FA9-A41C-F56D8524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628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E08BAD-1D13-46E7-9635-F0171CBB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Après 6 mois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C45F0F-1F34-4EBE-B68F-DC8BF890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628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04410A-D097-4189-92FE-C9A1757D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2390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Demande possible d’information sur les postes CDI disponibles.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553D7C-FB59-401B-A91A-8D0556E3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162800"/>
            <a:ext cx="4191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09D8EB-2D7A-4FE6-B772-F86C3EFF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390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Demande écrite avec date certaine.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285977-AD95-460E-B358-F86C6182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162800"/>
            <a:ext cx="485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3D48FC-DCAD-4886-9263-5E6F387A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3900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Ne pas garder de preuve écrite.</a:t>
            </a:r>
          </a:p>
        </p:txBody>
      </p:sp>
    </p:spTree>
    <p:extLst>
      <p:ext uri="{BB962C8B-B14F-4D97-AF65-F5344CB8AC3E}">
        <p14:creationId xmlns:p14="http://schemas.microsoft.com/office/powerpoint/2010/main" val="17337373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C6A0EC8-2D24-465A-98C9-AD963405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3030" y="0"/>
            <a:ext cx="2584011" cy="2312961"/>
          </a:xfrm>
          <a:custGeom xmlns:a="http://schemas.openxmlformats.org/drawingml/2006/main">
            <a:rect l="l" t="t" r="r" b="b"/>
            <a:pathLst>
              <a:path w="2584011" h="231296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407608652344b1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BD52D11-C780-4359-B87C-0E0D720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4573">
            <a:off x="15840518" y="5016411"/>
            <a:ext cx="1546489" cy="1091897"/>
          </a:xfrm>
          <a:custGeom xmlns:a="http://schemas.openxmlformats.org/drawingml/2006/main">
            <a:rect l="l" t="t" r="r" b="b"/>
            <a:pathLst>
              <a:path w="1546489" h="1091897">
                <a:moveTo>
                  <a:pt x="0" y="0"/>
                </a:moveTo>
                <a:lnTo>
                  <a:pt x="1546489" y="0"/>
                </a:lnTo>
                <a:lnTo>
                  <a:pt x="1546489" y="1091897"/>
                </a:lnTo>
                <a:lnTo>
                  <a:pt x="0" y="109189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90e4e66853e408a"/>
            <a:stretch>
              <a:fillRect l="-35587" t="-7574" r="0" b="-20218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58A424D-D74A-49C9-95AB-4798952F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7715" y="813549"/>
            <a:ext cx="12803743" cy="811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719"/>
              </a:lnSpc>
              <a:spcBef>
                <a:spcPts val="0"/>
              </a:spcBef>
              <a:buNone/>
            </a:pPr>
            <a:r>
              <a:rPr sz="48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Différence en CDI en fonction de l’ancienneté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FC1C0C9-5916-46FC-B84D-336F4FE1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142187"/>
            <a:ext cx="18288000" cy="1144813"/>
          </a:xfrm>
          <a:custGeom xmlns:a="http://schemas.openxmlformats.org/drawingml/2006/main">
            <a:rect l="l" t="t" r="r" b="b"/>
            <a:pathLst>
              <a:path w="18288000" h="1144813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bc0983003d9416e"/>
            <a:stretch>
              <a:fillRect l="0" t="-293028" r="0" b="-6338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611AB3F4-6BC3-41AE-BB2B-9AF79B00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326" flipH="1">
            <a:off x="12606688" y="7946303"/>
            <a:ext cx="1086008" cy="1180444"/>
          </a:xfrm>
          <a:custGeom xmlns:a="http://schemas.openxmlformats.org/drawingml/2006/main">
            <a:rect l="l" t="t" r="r" b="b"/>
            <a:pathLst>
              <a:path w="1086008" h="1180444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67e1dad6c9246ef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2A36148-9745-4FB0-B9F6-1C9A6E16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9210675"/>
            <a:ext cx="152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30B3A-A70E-434E-B143-43287E44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9CBDE-52E8-4247-8844-22E617F6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Ancienneté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DB19C-0D8D-44FA-87F0-D03E9FB2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873E8-F103-41E6-A6CB-1DDAB7D8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499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Ce qui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39D16-4577-402F-93A1-BDF41581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01980-CD50-4579-8E3E-0CE0B1B9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Droit concret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A4F56-2AD5-4C74-8577-B12E3D16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19075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2F2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F7A42-0BEE-4002-9D17-CB1BB41E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266950"/>
            <a:ext cx="470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0" rIns="1905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defRPr>
            </a:pPr>
            <a:r>
              <a:rPr sz="1575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Réflexe utile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9687E-C763-48E3-B11B-079DC469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A1B032-6F20-4784-BFB1-4303A6A1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Embauche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A4102-7A65-4463-8EB6-D88B0AA9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432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BE3F0-44B8-47B1-B84A-05C6366E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Le CDI commence sans terme prévu.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6CF2D-A807-4AA4-9600-7ACFA8AE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4191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931FE7-C83A-48B0-855F-9421FA30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Contrat écrit conseillé ; obligatoire à temps partiel.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79612-A967-43ED-A098-0711D2B2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743200"/>
            <a:ext cx="485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2DFA6-D22B-4E92-B969-FA0E04CC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81940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Demander fiche de poste et convention.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652AAC-5499-4FA4-A7B2-6BF49368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FE791-2691-4119-8D56-5A36B60F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Période d’essai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2013E-40F3-44E3-97D8-B82EB6A4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481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CF032A-35C4-4168-BC8A-CF0BE36E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243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Durée selon catégorie ; renouvellement seulement sous conditions.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9288C8-4FBB-4466-86B7-54B27B14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4191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AE816F-B99A-4F7D-BDF7-B10D2963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Délai de prévenance si rupture par l’employeur.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6F2C37-A41D-4906-A776-2243298F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848100"/>
            <a:ext cx="485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DAA4FE-BF57-4F80-AD10-9A021E7F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92430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Noter la date exacte de fin d’essai.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4155D7-84A5-4244-9336-8B421012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842B08-1EF1-4CF5-8ADC-D6F84D6C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Chaque mois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B328A-C28F-46C0-9410-424EE0F1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530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A0432A-230C-4A26-93D6-BB766CC1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292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Congés payés acquis progressivement.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D51558-DEA8-4502-8FFF-8A2D4ADF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4191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068E69-338F-4DEF-8A2D-293FE528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2,5 jours ouvrables par mois de travail effectif.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5F165A-EC88-4768-95EA-AADDE24D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953000"/>
            <a:ext cx="485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0AC6F2-6912-4D18-AD80-FDF104CF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02920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Suivre son compteur de congés.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C1180A-4D58-49F1-94A9-EA37C802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79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88D875-506A-4F19-A113-65B277FC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341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À partir de 8 mois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0D780D-8B8A-4586-8A40-E0A57260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579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7DC3DD-F0C4-42C9-92D4-7C0E447B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1341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En cas de licenciement hors faute grave/lourde.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0DF2C7-9F6C-429E-8138-5CC9DEA5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57900"/>
            <a:ext cx="4191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0DDF56-471E-448F-BF0E-663AF551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1341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Droit possible à l’indemnité légale de licenciement.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361F8C-7087-4767-ABBA-4E16AF1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057900"/>
            <a:ext cx="485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D168AE-7621-43F3-BDE1-2D67B13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13410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Comparer légal, conventionnel, contrat.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6623DF-94E6-4C18-9BB7-A7B43F9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628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6DB1CE-0D73-4BF0-8D25-089F197B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0"/>
            <a:ext cx="2190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À la rupture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53520E-B7F9-4BD6-A730-DC503BBF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62800"/>
            <a:ext cx="5143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A06650-D996-4032-AA77-1F51CBF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2390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Préavis et indemnités varient selon situation.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887187-C548-4422-9681-91FE05AE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162800"/>
            <a:ext cx="4191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5ED350-8CF6-4592-8DFD-AFEDCBB4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390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Documents fin de contrat remis par l’employeur.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F2961D-F857-4A45-AB42-28EE754C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162800"/>
            <a:ext cx="4857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674E64-CC1A-451B-9D87-67621058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23900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Ne signer le solde qu’après vérification.</a:t>
            </a:r>
          </a:p>
        </p:txBody>
      </p:sp>
    </p:spTree>
    <p:extLst>
      <p:ext uri="{BB962C8B-B14F-4D97-AF65-F5344CB8AC3E}">
        <p14:creationId xmlns:p14="http://schemas.microsoft.com/office/powerpoint/2010/main" val="9064744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88D81FD-FF4D-4467-8A34-CD9F2634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3030" y="0"/>
            <a:ext cx="2584011" cy="2312961"/>
          </a:xfrm>
          <a:custGeom xmlns:a="http://schemas.openxmlformats.org/drawingml/2006/main">
            <a:rect l="l" t="t" r="r" b="b"/>
            <a:pathLst>
              <a:path w="2584011" h="231296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0c1a9b25074a87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3C62D69-D43B-4F9E-A6D4-F403B9A4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2257" y="2312961"/>
            <a:ext cx="5040346" cy="5196233"/>
          </a:xfrm>
          <a:custGeom xmlns:a="http://schemas.openxmlformats.org/drawingml/2006/main">
            <a:rect l="l" t="t" r="r" b="b"/>
            <a:pathLst>
              <a:path w="5040346" h="5196233">
                <a:moveTo>
                  <a:pt x="0" y="0"/>
                </a:moveTo>
                <a:lnTo>
                  <a:pt x="5040346" y="0"/>
                </a:lnTo>
                <a:lnTo>
                  <a:pt x="5040346" y="5196233"/>
                </a:lnTo>
                <a:lnTo>
                  <a:pt x="0" y="519623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9afa7008b4419a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B34848F-9603-40CF-A363-44E1275A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79" y="313390"/>
            <a:ext cx="6748225" cy="962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840"/>
              </a:lnSpc>
              <a:spcBef>
                <a:spcPts val="0"/>
              </a:spcBef>
              <a:buNone/>
            </a:pPr>
            <a:r>
              <a:rPr sz="5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Erreur à ne pas faire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DCA6A5B-6050-4BCC-8DD6-1750FD30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142187"/>
            <a:ext cx="18288000" cy="1144813"/>
          </a:xfrm>
          <a:custGeom xmlns:a="http://schemas.openxmlformats.org/drawingml/2006/main">
            <a:rect l="l" t="t" r="r" b="b"/>
            <a:pathLst>
              <a:path w="18288000" h="1144813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0e388203e1485d"/>
            <a:stretch>
              <a:fillRect l="0" t="-293028" r="0" b="-6338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9520BA95-90FD-425A-AB06-AA2C31F5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326" flipH="1">
            <a:off x="14262456" y="7946303"/>
            <a:ext cx="1086008" cy="1180444"/>
          </a:xfrm>
          <a:custGeom xmlns:a="http://schemas.openxmlformats.org/drawingml/2006/main">
            <a:rect l="l" t="t" r="r" b="b"/>
            <a:pathLst>
              <a:path w="1086008" h="1180444">
                <a:moveTo>
                  <a:pt x="1086008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8" y="1180444"/>
                </a:lnTo>
                <a:lnTo>
                  <a:pt x="1086008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5f4880bf4e74832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9D6873E9-46E1-4965-A41D-32A923A2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9210675"/>
            <a:ext cx="152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06B8A-D832-432B-B0FC-3F9C488A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B2F99-D680-4496-A96D-2DDF36FD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86000"/>
            <a:ext cx="10839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Signer sans lire la convention collective, le statut, la durée du travail et les clauses de mobilité / exclusivité.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BAE97-45AF-4547-B96F-4F3029E3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3A536-5A4A-4346-9615-A0739C05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33750"/>
            <a:ext cx="10839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Confondre salaire brut, net et coût employeur : vérifier la fiche de paie et les primes annoncées.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405E2-FE79-46AD-962A-0658588E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31CEE-C74D-4999-95C6-30F9746E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81500"/>
            <a:ext cx="10839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Refuser un CDI équivalent à la fin d’un CDD sans mesurer les effets possibles sur prime de précarité et France Travail.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552F0-2101-4764-B507-21AC904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9C380-9D99-4A7D-82CA-3F3DFBF3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29250"/>
            <a:ext cx="10839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Signer le reçu pour solde de tout compte sans vérifier : contestation limitée à 6 mois si le reçu est signé.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143ED-661F-4679-A3E8-111A435A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667250"/>
            <a:ext cx="409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E2F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58B7E-5069-446D-8BC3-7A40A40B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800600"/>
            <a:ext cx="3752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2175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Bon réflexe : tout accord important se confirme par écrit.</a:t>
            </a:r>
          </a:p>
        </p:txBody>
      </p:sp>
    </p:spTree>
    <p:extLst>
      <p:ext uri="{BB962C8B-B14F-4D97-AF65-F5344CB8AC3E}">
        <p14:creationId xmlns:p14="http://schemas.microsoft.com/office/powerpoint/2010/main" val="12341747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A90C391-AC9C-463D-9C4F-CBDAE3FD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989" y="1975377"/>
            <a:ext cx="9200973" cy="5750608"/>
          </a:xfrm>
          <a:custGeom xmlns:a="http://schemas.openxmlformats.org/drawingml/2006/main">
            <a:rect l="l" t="t" r="r" b="b"/>
            <a:pathLst>
              <a:path w="9200973" h="5750608">
                <a:moveTo>
                  <a:pt x="0" y="0"/>
                </a:moveTo>
                <a:lnTo>
                  <a:pt x="9200972" y="0"/>
                </a:lnTo>
                <a:lnTo>
                  <a:pt x="9200972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6a1bc4ea23349e4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921A7AE-4309-4311-B562-8647526C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03989" y="0"/>
            <a:ext cx="2584011" cy="2312961"/>
          </a:xfrm>
          <a:custGeom xmlns:a="http://schemas.openxmlformats.org/drawingml/2006/main">
            <a:rect l="l" t="t" r="r" b="b"/>
            <a:pathLst>
              <a:path w="2584011" h="231296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ae3fcf28ff3475d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8B1AD71-89F7-4095-ADA2-E1C15093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142187"/>
            <a:ext cx="18288000" cy="1144813"/>
          </a:xfrm>
          <a:custGeom xmlns:a="http://schemas.openxmlformats.org/drawingml/2006/main">
            <a:rect l="l" t="t" r="r" b="b"/>
            <a:pathLst>
              <a:path w="18288000" h="1144813">
                <a:moveTo>
                  <a:pt x="0" y="0"/>
                </a:moveTo>
                <a:lnTo>
                  <a:pt x="18288000" y="0"/>
                </a:lnTo>
                <a:lnTo>
                  <a:pt x="18288000" y="1144813"/>
                </a:lnTo>
                <a:lnTo>
                  <a:pt x="0" y="1144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8419727d6044f1a"/>
            <a:stretch>
              <a:fillRect l="0" t="-293028" r="0" b="-6338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8003953-A030-43D1-AE19-3D834C38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326" flipH="1">
            <a:off x="17006808" y="7946303"/>
            <a:ext cx="1086008" cy="1180444"/>
          </a:xfrm>
          <a:custGeom xmlns:a="http://schemas.openxmlformats.org/drawingml/2006/main">
            <a:rect l="l" t="t" r="r" b="b"/>
            <a:pathLst>
              <a:path w="1086008" h="1180444">
                <a:moveTo>
                  <a:pt x="1086009" y="0"/>
                </a:moveTo>
                <a:lnTo>
                  <a:pt x="0" y="0"/>
                </a:lnTo>
                <a:lnTo>
                  <a:pt x="0" y="1180444"/>
                </a:lnTo>
                <a:lnTo>
                  <a:pt x="1086009" y="1180444"/>
                </a:lnTo>
                <a:lnTo>
                  <a:pt x="1086009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b5a71e8523d4731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6A3B992-D0A3-4CD2-95E1-988AE4C1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9210675"/>
            <a:ext cx="152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F8AA3-4BA3-42F1-B6F6-4AF2369C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E1D8F-0A10-4C37-9498-88462E51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95500"/>
            <a:ext cx="11220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Avant signature : lire contrat + convention collective, vérifier salaire, durée du travail, période d’essai et lieu.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91F99-FEF4-44EF-9A18-A8126084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65548-08B1-4126-92F8-6C02EDEE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24200"/>
            <a:ext cx="11220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Pendant : conserver contrat, avenants, bulletins, planning, mails sur heures supplémentaires ou primes.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EEBD1-03BC-40F7-ACC9-53541862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B72C4-6967-40A9-90D2-BC897B0F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52900"/>
            <a:ext cx="11220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À la fin : demander les 3 documents obligatoires et contrôler congés payés, prime éventuelle, préavis et solde.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8C7DC-EBB8-4F89-92BD-FB3CBD6A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006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9AF56-7C04-48E4-B6DC-7CB19E89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81600"/>
            <a:ext cx="11220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800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En cas de doute : contacter le CSE, l’inspection du travail, un syndicat, le Défenseur des droits ou le conseil de prud’hommes.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858BC-01E9-4705-83F5-6EB291FA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286125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F0"/>
          </a:solidFill>
          <a:ln xmlns:a="http://schemas.openxmlformats.org/drawingml/2006/main" w="19050">
            <a:solidFill>
              <a:srgbClr val="8E2F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1067C-AC9C-44D9-90F0-99287D5F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3419475"/>
            <a:ext cx="3371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2250" b="1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Méthode simple : “écrit + date + preuve”.</a:t>
            </a:r>
          </a:p>
        </p:txBody>
      </p:sp>
    </p:spTree>
    <p:extLst>
      <p:ext uri="{BB962C8B-B14F-4D97-AF65-F5344CB8AC3E}">
        <p14:creationId xmlns:p14="http://schemas.microsoft.com/office/powerpoint/2010/main" val="16988378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9AD804DF-66F0-4EB2-8F12-AD72DA14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3030" y="0"/>
            <a:ext cx="2584011" cy="2312961"/>
          </a:xfrm>
          <a:custGeom xmlns:a="http://schemas.openxmlformats.org/drawingml/2006/main">
            <a:rect l="l" t="t" r="r" b="b"/>
            <a:pathLst>
              <a:path w="2584011" h="2312961">
                <a:moveTo>
                  <a:pt x="0" y="0"/>
                </a:moveTo>
                <a:lnTo>
                  <a:pt x="2584011" y="0"/>
                </a:lnTo>
                <a:lnTo>
                  <a:pt x="2584011" y="2312961"/>
                </a:lnTo>
                <a:lnTo>
                  <a:pt x="0" y="23129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23f449a1564843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4DBBBD3-AFD5-49F4-952A-F308227C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9701" y="490220"/>
            <a:ext cx="2623542" cy="962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840"/>
              </a:lnSpc>
              <a:spcBef>
                <a:spcPts val="0"/>
              </a:spcBef>
              <a:buNone/>
            </a:pPr>
            <a:r>
              <a:rPr sz="56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Sources</a:t>
            </a:r>
          </a:p>
        </p:txBody>
      </p:sp>
      <p:pic>
        <p:nvPicPr>
          <p:cNvPr id="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c4ef19e784a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3039860" y="5442297"/>
            <a:ext cx="2087152" cy="3446053"/>
          </a:xfrm>
          <a:prstGeom xmlns:a="http://schemas.openxmlformats.org/drawingml/2006/main" prst="rect">
            <a:avLst/>
          </a:prstGeom>
        </p:spPr>
      </p:pic>
      <p:pic>
        <p:nvPicPr>
          <p:cNvPr id="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c194000ce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>
            <a:off x="8064844" y="842211"/>
            <a:ext cx="9016492" cy="8712850"/>
          </a:xfrm>
          <a:prstGeom xmlns:a="http://schemas.openxmlformats.org/drawingml/2006/main" prst="rect">
            <a:avLst/>
          </a:prstGeom>
        </p:spPr>
      </p:pic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7B637C8-5706-4716-B820-F17461C2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59300" y="9210675"/>
            <a:ext cx="1524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0CFB4-5A47-4F64-A615-D7380F5F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210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Sources consultées le 2 juin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57018-AADF-4DDC-AB7F-5F3DEAEF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5C686-D35F-467C-AEE6-CC8F353F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1217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Service-Public.fr – Conclusion du CDD : écrit, délai de transmission, mentions obligatoires.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1A325-7083-49F5-9F84-F4C7B6CA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18D3C-CDD7-40C0-A288-CBD022B2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62250"/>
            <a:ext cx="1217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Service-Public.fr – Droits du salarié en CDD : égalité de traitement, CDI disponibles.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98735-38F0-4F05-864E-10F7A497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48101-74C7-40E8-80A7-2907E5B2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1217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Ministère du Travail – Le contrat à durée déterminée : recours, prime de précarité, refus de CDI.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C28EF-653E-4010-BE15-113B09ED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E4427-4FC2-4AE1-A7B7-7BB2CF3D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1217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Service-Public.fr – Conclusion du CDI et période d’essai : écrit, durées, renouvellement.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36ED24-C6E6-4D3C-9135-3F3C3E3D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08D5D-E101-49CF-9F8E-FB622BCB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1217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Service-Public.fr – Congés payés, temps de travail, fiche de paie, documents de fin de contrat.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7567D-F99F-4560-A651-D25D7F00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30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76200" rIns="114300" bIns="762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defRPr>
            </a:pPr>
            <a:r>
              <a:rPr sz="1950" b="1">
                <a:solidFill>
                  <a:srgbClr val="8E2F2A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62694-2C1C-4A6A-8DD6-4297FC3F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29250"/>
            <a:ext cx="12172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defRPr>
            </a:pPr>
            <a:r>
              <a:rPr sz="1575" b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Service-Public.fr – Indemnité de licenciement, rupture CDI, solde de tout compte, prud’hommes.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48B74-F635-4B00-ACA4-5418F95D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667625"/>
            <a:ext cx="1409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Open Sans"/>
                <a:ea typeface="Open Sans"/>
                <a:cs typeface="Open Sans"/>
              </a:defRPr>
            </a:pPr>
            <a:r>
              <a:rPr sz="1350" b="0">
                <a:solidFill>
                  <a:srgbClr val="4B5563"/>
                </a:solidFill>
                <a:latin typeface="Open Sans"/>
                <a:ea typeface="Open Sans"/>
                <a:cs typeface="Open Sans"/>
              </a:rPr>
              <a:t>Liens : service-public.fr/F36, /F41, /F1906, /F1643, /F2258, /F1911, /F559, /F21789, /F987, /F86, /F2360 ; travail-emploi.gouv.fr – CDD.</a:t>
            </a:r>
          </a:p>
        </p:txBody>
      </p:sp>
    </p:spTree>
    <p:extLst>
      <p:ext uri="{BB962C8B-B14F-4D97-AF65-F5344CB8AC3E}">
        <p14:creationId xmlns:p14="http://schemas.microsoft.com/office/powerpoint/2010/main" val="151448855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2026-06-02T15:05:20.0430000Z</dcterms:created>
  <dcterms:modified xsi:type="dcterms:W3CDTF">2026-06-02T15:05:20.0430000Z</dcterms:modified>
</coreProperties>
</file>